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Outfit" panose="020B0604020202020204" charset="0"/>
      <p:regular r:id="rId10"/>
      <p:bold r:id="rId11"/>
    </p:embeddedFont>
    <p:embeddedFont>
      <p:font typeface="Plus Jakarta Sans" panose="020B0604020202020204" charset="0"/>
      <p:regular r:id="rId12"/>
      <p:bold r:id="rId13"/>
      <p:italic r:id="rId14"/>
      <p:boldItalic r:id="rId15"/>
    </p:embeddedFont>
    <p:embeddedFont>
      <p:font typeface="Plus Jakarta Sans Light" panose="020B0604020202020204" charset="0"/>
      <p:regular r:id="rId16"/>
      <p:bold r:id="rId17"/>
      <p:italic r:id="rId18"/>
      <p:boldItalic r:id="rId19"/>
    </p:embeddedFont>
    <p:embeddedFont>
      <p:font typeface="Plus Jakarta Sans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8162" y="1649313"/>
            <a:ext cx="34956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5762" y="4318099"/>
            <a:ext cx="3800475" cy="8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305401" y="2258913"/>
            <a:ext cx="9581197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5F3FF"/>
                </a:solidFill>
                <a:latin typeface="Outfit"/>
                <a:ea typeface="Outfit"/>
                <a:cs typeface="Outfit"/>
                <a:sym typeface="Outfit"/>
              </a:rPr>
              <a:t>Information for Everyone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19312" y="3346549"/>
            <a:ext cx="7953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DD6FE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 Supportive Information Ecosystem for Disadvantaged Groups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110287" y="4708624"/>
            <a:ext cx="9525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195762" y="4708624"/>
            <a:ext cx="15335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CMP2004 Term Project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195762" y="4980086"/>
            <a:ext cx="1533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/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500812" y="4708624"/>
            <a:ext cx="1495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Spring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500812" y="4980086"/>
            <a:ext cx="1495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100"/>
            <a:ext cx="52387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24100"/>
            <a:ext cx="52387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09875"/>
            <a:ext cx="42672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539515" y="2809875"/>
            <a:ext cx="44805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Barrier</a:t>
            </a:r>
            <a:endParaRPr lang="en-US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057275" y="3522697"/>
            <a:ext cx="4267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Navigating essential services (Health, Legal, Social) is often complex, text-heavy, and scattered across unoptimized digital systems.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2959893"/>
            <a:ext cx="42672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291790" y="2940843"/>
            <a:ext cx="44805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867525" y="3522697"/>
            <a:ext cx="4267200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centralized, highly accessible mobile tool that simplifies critical data into a navigable, "one-tap" format for quick action.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DD6FE"/>
                </a:solidFill>
                <a:latin typeface="Outfit"/>
                <a:ea typeface="Outfit"/>
                <a:cs typeface="Outfit"/>
                <a:sym typeface="Outfit"/>
              </a:rPr>
              <a:t>The Challenge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143000"/>
            <a:ext cx="785812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481262"/>
            <a:ext cx="60007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Inclusive Digital Design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148012"/>
            <a:ext cx="5715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target group faces technological, cognitive, or socioeconomic barriers. They are the most in need but the least likely to navigate complex systems.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76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238250" y="4479131"/>
            <a:ext cx="2238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Full Accessibility Support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434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238250" y="5145881"/>
            <a:ext cx="26384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Zero-Cost Essential Guidance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45196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0087" y="51863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DD6FE"/>
                </a:solidFill>
                <a:latin typeface="Outfit"/>
                <a:ea typeface="Outfit"/>
                <a:cs typeface="Outfit"/>
                <a:sym typeface="Outfit"/>
              </a:rPr>
              <a:t>Who We Empower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143000"/>
            <a:ext cx="69913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5" title="Screenshot_20260521_020655.png"/>
          <p:cNvPicPr preferRelativeResize="0"/>
          <p:nvPr/>
        </p:nvPicPr>
        <p:blipFill rotWithShape="1">
          <a:blip r:embed="rId8">
            <a:alphaModFix/>
          </a:blip>
          <a:srcRect l="-102300" t="-16506" r="102300" b="56854"/>
          <a:stretch/>
        </p:blipFill>
        <p:spPr>
          <a:xfrm>
            <a:off x="4553950" y="0"/>
            <a:ext cx="3084100" cy="409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title="Screenshot_20260521_020655.png"/>
          <p:cNvPicPr preferRelativeResize="0"/>
          <p:nvPr/>
        </p:nvPicPr>
        <p:blipFill rotWithShape="1">
          <a:blip r:embed="rId8">
            <a:alphaModFix/>
          </a:blip>
          <a:srcRect b="40348"/>
          <a:stretch/>
        </p:blipFill>
        <p:spPr>
          <a:xfrm>
            <a:off x="7820425" y="1020062"/>
            <a:ext cx="3632099" cy="481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5305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600" y="1524000"/>
            <a:ext cx="3530649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9850" y="1524000"/>
            <a:ext cx="35305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19550"/>
            <a:ext cx="35305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600" y="4019550"/>
            <a:ext cx="3530649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9850" y="4019550"/>
            <a:ext cx="35305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1876425"/>
            <a:ext cx="2939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458603" y="1952625"/>
            <a:ext cx="30869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Curation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2447925"/>
            <a:ext cx="2939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Information divided into Health, Legal, and Social Support for intuitive discovery.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5875" y="1990725"/>
            <a:ext cx="29400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217697" y="2064328"/>
            <a:ext cx="308710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Tips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625875" y="2489489"/>
            <a:ext cx="2940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internet integration fetching daily life advice via the Advice Slip API.</a:t>
            </a:r>
            <a:endParaRPr dirty="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5125" y="1990725"/>
            <a:ext cx="2939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828677" y="2028825"/>
            <a:ext cx="30869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One-Tap Help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8385125" y="2495550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"Call 112" integration via Android Implicit Intents (ACTION_DIAL).</a:t>
            </a:r>
            <a:endParaRPr dirty="0"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4486275"/>
            <a:ext cx="2939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458603" y="4527838"/>
            <a:ext cx="30869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Background Engine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819000" y="5023138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Background services ensuring users receive daily guidance notifications.</a:t>
            </a:r>
            <a:endParaRPr dirty="0"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25875" y="4486275"/>
            <a:ext cx="29400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217697" y="4526972"/>
            <a:ext cx="308710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Material UI 3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4575126" y="5023138"/>
            <a:ext cx="2940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Optimized with large text, clean cards, and full Light/Dark mode support.</a:t>
            </a:r>
            <a:endParaRPr dirty="0"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85125" y="4371975"/>
            <a:ext cx="2939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8828677" y="4410075"/>
            <a:ext cx="30869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Reliable Delivery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8385125" y="4943475"/>
            <a:ext cx="2939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Boot receivers ensure the app's notification engine stays active after restarts.</a:t>
            </a:r>
            <a:endParaRPr dirty="0"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DD6FE"/>
                </a:solidFill>
                <a:latin typeface="Outfit"/>
                <a:ea typeface="Outfit"/>
                <a:cs typeface="Outfit"/>
                <a:sym typeface="Outfit"/>
              </a:rPr>
              <a:t>Core App Features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1143000"/>
            <a:ext cx="694372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rcRect t="20545" b="20545"/>
          <a:stretch/>
        </p:blipFill>
        <p:spPr>
          <a:xfrm>
            <a:off x="571500" y="1524000"/>
            <a:ext cx="3492399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title="Screenshot_20260521_020716.png"/>
          <p:cNvPicPr preferRelativeResize="0"/>
          <p:nvPr/>
        </p:nvPicPr>
        <p:blipFill rotWithShape="1">
          <a:blip r:embed="rId5">
            <a:alphaModFix/>
          </a:blip>
          <a:srcRect t="20533" b="20533"/>
          <a:stretch/>
        </p:blipFill>
        <p:spPr>
          <a:xfrm>
            <a:off x="4349650" y="1524000"/>
            <a:ext cx="349255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title="Screenshot_20260521_020746.png"/>
          <p:cNvPicPr preferRelativeResize="0"/>
          <p:nvPr/>
        </p:nvPicPr>
        <p:blipFill rotWithShape="1">
          <a:blip r:embed="rId6">
            <a:alphaModFix/>
          </a:blip>
          <a:srcRect l="5579" r="5588"/>
          <a:stretch/>
        </p:blipFill>
        <p:spPr>
          <a:xfrm>
            <a:off x="8127950" y="1524000"/>
            <a:ext cx="3492399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6238875"/>
            <a:ext cx="34924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FFFFFF"/>
                </a:solidFill>
                <a:latin typeface="Plus Jakarta Sans SemiBold"/>
                <a:cs typeface="Plus Jakarta Sans SemiBold"/>
                <a:sym typeface="Plus Jakarta Sans SemiBold"/>
              </a:rPr>
              <a:t>Emergency Contact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4349650" y="6238875"/>
            <a:ext cx="3492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Example </a:t>
            </a: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n-US" sz="1425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Menu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127950" y="6238875"/>
            <a:ext cx="34924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 Notification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DD6FE"/>
                </a:solidFill>
                <a:latin typeface="Outfit"/>
                <a:ea typeface="Outfit"/>
                <a:cs typeface="Outfit"/>
                <a:sym typeface="Outfit"/>
              </a:rPr>
              <a:t>Interactive Interface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1143000"/>
            <a:ext cx="652462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571500" y="2305050"/>
            <a:ext cx="11049000" cy="895350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71500" y="3371850"/>
            <a:ext cx="11049000" cy="895350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1500" y="4438650"/>
            <a:ext cx="11049000" cy="895350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2305050"/>
            <a:ext cx="57150" cy="8953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533525" y="2631497"/>
            <a:ext cx="9363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7030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Java MVC &amp; OOP: </a:t>
            </a:r>
            <a:r>
              <a:rPr lang="en-US" sz="15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Proper data encapsulation with </a:t>
            </a:r>
            <a:r>
              <a:rPr lang="en-US" sz="1500" b="0" i="0" u="none" strike="noStrike" cap="none" dirty="0" err="1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InfoItem</a:t>
            </a:r>
            <a:r>
              <a:rPr lang="en-US" sz="15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Repository classes for scalable logic.</a:t>
            </a:r>
            <a:endParaRPr sz="1500" dirty="0"/>
          </a:p>
        </p:txBody>
      </p:sp>
      <p:sp>
        <p:nvSpPr>
          <p:cNvPr id="180" name="Google Shape;180;p18"/>
          <p:cNvSpPr/>
          <p:nvPr/>
        </p:nvSpPr>
        <p:spPr>
          <a:xfrm>
            <a:off x="571500" y="3371850"/>
            <a:ext cx="57150" cy="8953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497156" y="3704108"/>
            <a:ext cx="987396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7030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Asynchronous Networking: </a:t>
            </a:r>
            <a:r>
              <a:rPr lang="en-US" sz="1500" b="0" i="0" u="none" strike="noStrike" cap="none" dirty="0" err="1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HttpRequestTask</a:t>
            </a:r>
            <a:r>
              <a:rPr lang="en-US" sz="15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pulls JSON data from Advice Slip API without UI thread blocking.</a:t>
            </a:r>
            <a:endParaRPr sz="1500" dirty="0"/>
          </a:p>
        </p:txBody>
      </p:sp>
      <p:sp>
        <p:nvSpPr>
          <p:cNvPr id="182" name="Google Shape;182;p18"/>
          <p:cNvSpPr/>
          <p:nvPr/>
        </p:nvSpPr>
        <p:spPr>
          <a:xfrm>
            <a:off x="571500" y="4438650"/>
            <a:ext cx="57150" cy="8953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533525" y="4770908"/>
            <a:ext cx="995189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7030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Services &amp; Broadcasts: </a:t>
            </a:r>
            <a:r>
              <a:rPr lang="en-US" sz="15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Combined </a:t>
            </a:r>
            <a:r>
              <a:rPr lang="en-US" sz="1500" b="0" i="0" u="none" strike="noStrike" cap="none" dirty="0" err="1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TipNotificationService</a:t>
            </a:r>
            <a:r>
              <a:rPr lang="en-US" sz="15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with </a:t>
            </a:r>
            <a:r>
              <a:rPr lang="en-US" sz="1500" b="0" i="0" u="none" strike="noStrike" cap="none" dirty="0" err="1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BootReceiver</a:t>
            </a:r>
            <a:r>
              <a:rPr lang="en-US" sz="15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system-level persistence.</a:t>
            </a:r>
            <a:endParaRPr sz="1500" dirty="0"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2614612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68141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4748212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DD6FE"/>
                </a:solidFill>
                <a:latin typeface="Outfit"/>
                <a:ea typeface="Outfit"/>
                <a:cs typeface="Outfit"/>
                <a:sym typeface="Outfit"/>
              </a:rPr>
              <a:t>Technical Architecture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1143000"/>
            <a:ext cx="61531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6212" y="4826793"/>
            <a:ext cx="4219575" cy="113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0" y="892968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3860720" y="2416968"/>
            <a:ext cx="4470558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3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Questions?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2286000" y="3569493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DD6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"Information for Everyone" – Bridging the digital gap through advanced Android development.</a:t>
            </a:r>
            <a:endParaRPr/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5962" y="1226343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4567237" y="5122068"/>
            <a:ext cx="30575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Mehmet Eren Ekşi &amp; Yiğit Erel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3986212" y="5466961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CMP2004 Advanced Programming | 2025-2026 Spring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293</Words>
  <Application>Microsoft Office PowerPoint</Application>
  <PresentationFormat>Geniş ekran</PresentationFormat>
  <Paragraphs>41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4" baseType="lpstr">
      <vt:lpstr>Plus Jakarta Sans Light</vt:lpstr>
      <vt:lpstr>Arial</vt:lpstr>
      <vt:lpstr>Calibri</vt:lpstr>
      <vt:lpstr>Plus Jakarta Sans</vt:lpstr>
      <vt:lpstr>Outfit</vt:lpstr>
      <vt:lpstr>Plus Jakarta Sans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YİĞİT EREL</cp:lastModifiedBy>
  <cp:revision>3</cp:revision>
  <dcterms:modified xsi:type="dcterms:W3CDTF">2026-05-20T23:40:00Z</dcterms:modified>
</cp:coreProperties>
</file>