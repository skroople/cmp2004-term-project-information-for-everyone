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embeddedFontLst>
    <p:embeddedFont>
      <p:font typeface="Outfit" panose="020B0604020202020204" charset="0"/>
      <p:regular r:id="rId10"/>
      <p:bold r:id="rId11"/>
    </p:embeddedFont>
    <p:embeddedFont>
      <p:font typeface="Plus Jakarta Sans" panose="020B0604020202020204" charset="0"/>
      <p:regular r:id="rId12"/>
      <p:bold r:id="rId13"/>
      <p:italic r:id="rId14"/>
      <p:boldItalic r:id="rId15"/>
    </p:embeddedFont>
    <p:embeddedFont>
      <p:font typeface="Plus Jakarta Sans Light" panose="020B0604020202020204" charset="0"/>
      <p:regular r:id="rId16"/>
      <p:bold r:id="rId17"/>
      <p:italic r:id="rId18"/>
      <p:boldItalic r:id="rId19"/>
    </p:embeddedFont>
    <p:embeddedFont>
      <p:font typeface="Plus Jakarta Sans SemiBold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70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2.fntdata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3" Type="http://schemas.openxmlformats.org/officeDocument/2006/relationships/font" Target="fonts/font14.fntdata"/><Relationship Id="rId10" Type="http://schemas.openxmlformats.org/officeDocument/2006/relationships/font" Target="fonts/font1.fntdata"/><Relationship Id="rId19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font" Target="fonts/font1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48162" y="1649313"/>
            <a:ext cx="3495675" cy="32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195762" y="4318099"/>
            <a:ext cx="3800475" cy="89058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1305401" y="2258913"/>
            <a:ext cx="9581197" cy="8590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150" b="1" i="0" u="none" strike="noStrike" cap="none">
                <a:solidFill>
                  <a:srgbClr val="F5F3FF"/>
                </a:solidFill>
                <a:latin typeface="Outfit"/>
                <a:ea typeface="Outfit"/>
                <a:cs typeface="Outfit"/>
                <a:sym typeface="Outfit"/>
              </a:rPr>
              <a:t>Information for Everyone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2119312" y="3346549"/>
            <a:ext cx="7953375" cy="400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DDD6FE"/>
                </a:solidFill>
                <a:latin typeface="Plus Jakarta Sans Light"/>
                <a:ea typeface="Plus Jakarta Sans Light"/>
                <a:cs typeface="Plus Jakarta Sans Light"/>
                <a:sym typeface="Plus Jakarta Sans Light"/>
              </a:rPr>
              <a:t>A Supportive Information Ecosystem for Disadvantaged Groups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6110287" y="4708624"/>
            <a:ext cx="9525" cy="50006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4195762" y="4708624"/>
            <a:ext cx="15335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Mehmet Eren Ekşi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4195762" y="4980086"/>
            <a:ext cx="15335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Student ID: 2364932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6500812" y="4708624"/>
            <a:ext cx="14954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Yiğit Erel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500812" y="4980086"/>
            <a:ext cx="14954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Student ID: 2483739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24100"/>
            <a:ext cx="523875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324100"/>
            <a:ext cx="5238750" cy="3162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7275" y="2809875"/>
            <a:ext cx="42672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1539515" y="2809875"/>
            <a:ext cx="448056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Barrier</a:t>
            </a:r>
            <a:endParaRPr lang="en-US" dirty="0"/>
          </a:p>
        </p:txBody>
      </p:sp>
      <p:sp>
        <p:nvSpPr>
          <p:cNvPr id="103" name="Google Shape;103;p14"/>
          <p:cNvSpPr txBox="1"/>
          <p:nvPr/>
        </p:nvSpPr>
        <p:spPr>
          <a:xfrm>
            <a:off x="1057275" y="3522697"/>
            <a:ext cx="4267200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Navigating essential services (Health, Legal, Social) is often complex, text-heavy, and scattered across unoptimized digital systems.</a:t>
            </a:r>
            <a:endParaRPr dirty="0"/>
          </a:p>
        </p:txBody>
      </p:sp>
      <p:pic>
        <p:nvPicPr>
          <p:cNvPr id="104" name="Google Shape;104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867525" y="2959893"/>
            <a:ext cx="42672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4"/>
          <p:cNvSpPr txBox="1"/>
          <p:nvPr/>
        </p:nvSpPr>
        <p:spPr>
          <a:xfrm>
            <a:off x="7291790" y="2940843"/>
            <a:ext cx="448056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The Solution</a:t>
            </a:r>
            <a:endParaRPr dirty="0"/>
          </a:p>
        </p:txBody>
      </p:sp>
      <p:sp>
        <p:nvSpPr>
          <p:cNvPr id="106" name="Google Shape;106;p14"/>
          <p:cNvSpPr txBox="1"/>
          <p:nvPr/>
        </p:nvSpPr>
        <p:spPr>
          <a:xfrm>
            <a:off x="6867525" y="3522697"/>
            <a:ext cx="4267200" cy="900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75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 centralized, highly accessible mobile tool that simplifies critical data into a navigable, "one-tap" format for quick action.</a:t>
            </a:r>
            <a:endParaRPr dirty="0"/>
          </a:p>
        </p:txBody>
      </p:sp>
      <p:sp>
        <p:nvSpPr>
          <p:cNvPr id="107" name="Google Shape;107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The Challenge</a:t>
            </a:r>
            <a:endParaRPr/>
          </a:p>
        </p:txBody>
      </p:sp>
      <p:sp>
        <p:nvSpPr>
          <p:cNvPr id="108" name="Google Shape;108;p14"/>
          <p:cNvSpPr/>
          <p:nvPr/>
        </p:nvSpPr>
        <p:spPr>
          <a:xfrm>
            <a:off x="571500" y="1143000"/>
            <a:ext cx="78581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71500" y="2481262"/>
            <a:ext cx="6000750" cy="42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FFFF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Inclusive Digital Design</a:t>
            </a:r>
            <a:endParaRPr/>
          </a:p>
        </p:txBody>
      </p:sp>
      <p:sp>
        <p:nvSpPr>
          <p:cNvPr id="115" name="Google Shape;115;p15"/>
          <p:cNvSpPr txBox="1"/>
          <p:nvPr/>
        </p:nvSpPr>
        <p:spPr>
          <a:xfrm>
            <a:off x="571500" y="3148012"/>
            <a:ext cx="5715000" cy="942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Our target group faces technological, cognitive, or socioeconomic barriers. They are the most in need but the least likely to navigate complex systems.</a:t>
            </a:r>
            <a:endParaRPr/>
          </a:p>
        </p:txBody>
      </p:sp>
      <p:pic>
        <p:nvPicPr>
          <p:cNvPr id="116" name="Google Shape;11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7673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/>
        </p:nvSpPr>
        <p:spPr>
          <a:xfrm>
            <a:off x="1238250" y="4479131"/>
            <a:ext cx="223837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Full Accessibility Support</a:t>
            </a:r>
            <a:endParaRPr/>
          </a:p>
        </p:txBody>
      </p:sp>
      <p:pic>
        <p:nvPicPr>
          <p:cNvPr id="118" name="Google Shape;118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50434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5"/>
          <p:cNvSpPr txBox="1"/>
          <p:nvPr/>
        </p:nvSpPr>
        <p:spPr>
          <a:xfrm>
            <a:off x="1238250" y="5145881"/>
            <a:ext cx="26384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Zero-Cost Essential Guidance</a:t>
            </a:r>
            <a:endParaRPr/>
          </a:p>
        </p:txBody>
      </p:sp>
      <p:pic>
        <p:nvPicPr>
          <p:cNvPr id="120" name="Google Shape;120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14375" y="4519612"/>
            <a:ext cx="1905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00087" y="5186362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Who We Empower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143000"/>
            <a:ext cx="6991350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15" title="Screenshot_20260521_020655.png"/>
          <p:cNvPicPr preferRelativeResize="0"/>
          <p:nvPr/>
        </p:nvPicPr>
        <p:blipFill rotWithShape="1">
          <a:blip r:embed="rId8">
            <a:alphaModFix/>
          </a:blip>
          <a:srcRect l="-102300" t="-16506" r="102300" b="56854"/>
          <a:stretch/>
        </p:blipFill>
        <p:spPr>
          <a:xfrm>
            <a:off x="4553950" y="0"/>
            <a:ext cx="3084100" cy="4090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5" title="Screenshot_20260521_020655.png"/>
          <p:cNvPicPr preferRelativeResize="0"/>
          <p:nvPr/>
        </p:nvPicPr>
        <p:blipFill rotWithShape="1">
          <a:blip r:embed="rId8">
            <a:alphaModFix/>
          </a:blip>
          <a:srcRect b="40348"/>
          <a:stretch/>
        </p:blipFill>
        <p:spPr>
          <a:xfrm>
            <a:off x="7820425" y="1020062"/>
            <a:ext cx="3632099" cy="48178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2400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0600" y="1524000"/>
            <a:ext cx="3530649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0" y="152400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01955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30600" y="4019550"/>
            <a:ext cx="3530649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89850" y="4019550"/>
            <a:ext cx="3530500" cy="2266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66775" y="187642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1458603" y="195262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Smart Curation</a:t>
            </a:r>
            <a:endParaRPr dirty="0"/>
          </a:p>
        </p:txBody>
      </p:sp>
      <p:sp>
        <p:nvSpPr>
          <p:cNvPr id="139" name="Google Shape;139;p16"/>
          <p:cNvSpPr txBox="1"/>
          <p:nvPr/>
        </p:nvSpPr>
        <p:spPr>
          <a:xfrm>
            <a:off x="866775" y="2447925"/>
            <a:ext cx="29399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Information divided into Health, Legal, and Social Support for intuitive discovery.</a:t>
            </a:r>
            <a:endParaRPr dirty="0"/>
          </a:p>
        </p:txBody>
      </p:sp>
      <p:pic>
        <p:nvPicPr>
          <p:cNvPr id="140" name="Google Shape;14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25875" y="1990725"/>
            <a:ext cx="29400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5217697" y="2064328"/>
            <a:ext cx="308710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Real-Time Tips</a:t>
            </a:r>
            <a:endParaRPr dirty="0"/>
          </a:p>
        </p:txBody>
      </p:sp>
      <p:sp>
        <p:nvSpPr>
          <p:cNvPr id="142" name="Google Shape;142;p16"/>
          <p:cNvSpPr txBox="1"/>
          <p:nvPr/>
        </p:nvSpPr>
        <p:spPr>
          <a:xfrm>
            <a:off x="4625875" y="2489489"/>
            <a:ext cx="294009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Live internet integration fetching daily life advice via the Advice Slip API.</a:t>
            </a:r>
            <a:endParaRPr dirty="0"/>
          </a:p>
        </p:txBody>
      </p:sp>
      <p:pic>
        <p:nvPicPr>
          <p:cNvPr id="143" name="Google Shape;143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85125" y="199072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6"/>
          <p:cNvSpPr txBox="1"/>
          <p:nvPr/>
        </p:nvSpPr>
        <p:spPr>
          <a:xfrm>
            <a:off x="8828677" y="202882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One-Tap Help</a:t>
            </a:r>
            <a:endParaRPr dirty="0"/>
          </a:p>
        </p:txBody>
      </p:sp>
      <p:sp>
        <p:nvSpPr>
          <p:cNvPr id="145" name="Google Shape;145;p16"/>
          <p:cNvSpPr txBox="1"/>
          <p:nvPr/>
        </p:nvSpPr>
        <p:spPr>
          <a:xfrm>
            <a:off x="8385125" y="2495550"/>
            <a:ext cx="29399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Direct "Call 112" integration via Android Implicit Intents (ACTION_DIAL).</a:t>
            </a:r>
            <a:endParaRPr dirty="0"/>
          </a:p>
        </p:txBody>
      </p:sp>
      <p:pic>
        <p:nvPicPr>
          <p:cNvPr id="146" name="Google Shape;146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66775" y="448627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1458603" y="4527838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Background Engine</a:t>
            </a:r>
            <a:endParaRPr dirty="0"/>
          </a:p>
        </p:txBody>
      </p:sp>
      <p:sp>
        <p:nvSpPr>
          <p:cNvPr id="148" name="Google Shape;148;p16"/>
          <p:cNvSpPr txBox="1"/>
          <p:nvPr/>
        </p:nvSpPr>
        <p:spPr>
          <a:xfrm>
            <a:off x="819000" y="5023138"/>
            <a:ext cx="293995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Background services ensuring users receive daily guidance notifications.</a:t>
            </a:r>
            <a:endParaRPr dirty="0"/>
          </a:p>
        </p:txBody>
      </p:sp>
      <p:pic>
        <p:nvPicPr>
          <p:cNvPr id="149" name="Google Shape;149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625875" y="4486275"/>
            <a:ext cx="2940099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6"/>
          <p:cNvSpPr txBox="1"/>
          <p:nvPr/>
        </p:nvSpPr>
        <p:spPr>
          <a:xfrm>
            <a:off x="5217697" y="4526972"/>
            <a:ext cx="3087104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Material UI 3</a:t>
            </a:r>
            <a:endParaRPr dirty="0"/>
          </a:p>
        </p:txBody>
      </p:sp>
      <p:sp>
        <p:nvSpPr>
          <p:cNvPr id="151" name="Google Shape;151;p16"/>
          <p:cNvSpPr txBox="1"/>
          <p:nvPr/>
        </p:nvSpPr>
        <p:spPr>
          <a:xfrm>
            <a:off x="4575126" y="5023138"/>
            <a:ext cx="294009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Optimized with large text, clean cards, and full Light/Dark mode support.</a:t>
            </a:r>
            <a:endParaRPr dirty="0"/>
          </a:p>
        </p:txBody>
      </p:sp>
      <p:pic>
        <p:nvPicPr>
          <p:cNvPr id="152" name="Google Shape;152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385125" y="4371975"/>
            <a:ext cx="293995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6"/>
          <p:cNvSpPr txBox="1"/>
          <p:nvPr/>
        </p:nvSpPr>
        <p:spPr>
          <a:xfrm>
            <a:off x="8828677" y="4410075"/>
            <a:ext cx="308694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Reliable Delivery</a:t>
            </a:r>
            <a:endParaRPr dirty="0"/>
          </a:p>
        </p:txBody>
      </p:sp>
      <p:sp>
        <p:nvSpPr>
          <p:cNvPr id="154" name="Google Shape;154;p16"/>
          <p:cNvSpPr txBox="1"/>
          <p:nvPr/>
        </p:nvSpPr>
        <p:spPr>
          <a:xfrm>
            <a:off x="8385125" y="4943475"/>
            <a:ext cx="293995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Boot receivers ensure the app's notification engine stays active after restarts.</a:t>
            </a:r>
            <a:endParaRPr dirty="0"/>
          </a:p>
        </p:txBody>
      </p:sp>
      <p:sp>
        <p:nvSpPr>
          <p:cNvPr id="155" name="Google Shape;155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Core App Features</a:t>
            </a:r>
            <a:endParaRPr/>
          </a:p>
        </p:txBody>
      </p:sp>
      <p:sp>
        <p:nvSpPr>
          <p:cNvPr id="156" name="Google Shape;156;p16"/>
          <p:cNvSpPr/>
          <p:nvPr/>
        </p:nvSpPr>
        <p:spPr>
          <a:xfrm>
            <a:off x="571500" y="1143000"/>
            <a:ext cx="69437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17"/>
          <p:cNvPicPr preferRelativeResize="0"/>
          <p:nvPr/>
        </p:nvPicPr>
        <p:blipFill>
          <a:blip r:embed="rId4">
            <a:alphaModFix/>
          </a:blip>
          <a:srcRect t="20545" b="20545"/>
          <a:stretch/>
        </p:blipFill>
        <p:spPr>
          <a:xfrm>
            <a:off x="571500" y="1524000"/>
            <a:ext cx="3492399" cy="4572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17" title="Screenshot_20260521_020716.png"/>
          <p:cNvPicPr preferRelativeResize="0"/>
          <p:nvPr/>
        </p:nvPicPr>
        <p:blipFill rotWithShape="1">
          <a:blip r:embed="rId5">
            <a:alphaModFix/>
          </a:blip>
          <a:srcRect t="20533" b="20533"/>
          <a:stretch/>
        </p:blipFill>
        <p:spPr>
          <a:xfrm>
            <a:off x="4349650" y="1524000"/>
            <a:ext cx="3492550" cy="4572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17" title="Screenshot_20260521_020746.png"/>
          <p:cNvPicPr preferRelativeResize="0"/>
          <p:nvPr/>
        </p:nvPicPr>
        <p:blipFill rotWithShape="1">
          <a:blip r:embed="rId6">
            <a:alphaModFix/>
          </a:blip>
          <a:srcRect l="5579" r="5588"/>
          <a:stretch/>
        </p:blipFill>
        <p:spPr>
          <a:xfrm>
            <a:off x="8127950" y="1524000"/>
            <a:ext cx="3492399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571500" y="6238875"/>
            <a:ext cx="3492400" cy="328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dirty="0">
                <a:solidFill>
                  <a:srgbClr val="FFFFFF"/>
                </a:solidFill>
                <a:latin typeface="Plus Jakarta Sans SemiBold"/>
                <a:cs typeface="Plus Jakarta Sans SemiBold"/>
                <a:sym typeface="Plus Jakarta Sans SemiBold"/>
              </a:rPr>
              <a:t>Emergency Contact</a:t>
            </a:r>
            <a:endParaRPr dirty="0"/>
          </a:p>
        </p:txBody>
      </p:sp>
      <p:sp>
        <p:nvSpPr>
          <p:cNvPr id="166" name="Google Shape;166;p17"/>
          <p:cNvSpPr txBox="1"/>
          <p:nvPr/>
        </p:nvSpPr>
        <p:spPr>
          <a:xfrm>
            <a:off x="4349650" y="6238875"/>
            <a:ext cx="34926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Example </a:t>
            </a: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 </a:t>
            </a:r>
            <a:r>
              <a:rPr lang="en-US" sz="1425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Menu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8127950" y="6238875"/>
            <a:ext cx="3492400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System Notification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Interactive Interface</a:t>
            </a:r>
            <a:endParaRPr/>
          </a:p>
        </p:txBody>
      </p:sp>
      <p:sp>
        <p:nvSpPr>
          <p:cNvPr id="169" name="Google Shape;169;p17"/>
          <p:cNvSpPr/>
          <p:nvPr/>
        </p:nvSpPr>
        <p:spPr>
          <a:xfrm>
            <a:off x="571500" y="1143000"/>
            <a:ext cx="6524625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8"/>
          <p:cNvSpPr/>
          <p:nvPr/>
        </p:nvSpPr>
        <p:spPr>
          <a:xfrm>
            <a:off x="571500" y="23050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571500" y="33718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571500" y="4438650"/>
            <a:ext cx="11049000" cy="895350"/>
          </a:xfrm>
          <a:prstGeom prst="roundRect">
            <a:avLst>
              <a:gd name="adj" fmla="val 21276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571500" y="23050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8"/>
          <p:cNvSpPr txBox="1"/>
          <p:nvPr/>
        </p:nvSpPr>
        <p:spPr>
          <a:xfrm>
            <a:off x="1533525" y="2631497"/>
            <a:ext cx="936307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Java MVC &amp; OOP: 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Proper data encapsulation with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InfoItem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and Repository classes for scalable logic.</a:t>
            </a:r>
            <a:endParaRPr sz="1500" dirty="0"/>
          </a:p>
        </p:txBody>
      </p:sp>
      <p:sp>
        <p:nvSpPr>
          <p:cNvPr id="180" name="Google Shape;180;p18"/>
          <p:cNvSpPr/>
          <p:nvPr/>
        </p:nvSpPr>
        <p:spPr>
          <a:xfrm>
            <a:off x="571500" y="33718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8"/>
          <p:cNvSpPr txBox="1"/>
          <p:nvPr/>
        </p:nvSpPr>
        <p:spPr>
          <a:xfrm>
            <a:off x="1497156" y="3704108"/>
            <a:ext cx="9873962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Asynchronous Networking: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HttpRequestTask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pulls JSON data from Advice Slip API without UI thread blocking.</a:t>
            </a:r>
            <a:endParaRPr sz="1500" dirty="0"/>
          </a:p>
        </p:txBody>
      </p:sp>
      <p:sp>
        <p:nvSpPr>
          <p:cNvPr id="182" name="Google Shape;182;p18"/>
          <p:cNvSpPr/>
          <p:nvPr/>
        </p:nvSpPr>
        <p:spPr>
          <a:xfrm>
            <a:off x="571500" y="4438650"/>
            <a:ext cx="57150" cy="89535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 txBox="1"/>
          <p:nvPr/>
        </p:nvSpPr>
        <p:spPr>
          <a:xfrm>
            <a:off x="1533525" y="4770908"/>
            <a:ext cx="9951893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7030A0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Services &amp; Broadcasts: 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Combined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TipNotificationService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with </a:t>
            </a:r>
            <a:r>
              <a:rPr lang="en-US" sz="1500" b="0" i="0" u="none" strike="noStrike" cap="none" dirty="0" err="1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BootReceiver</a:t>
            </a:r>
            <a:r>
              <a:rPr lang="en-US" sz="15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 for system-level persistence.</a:t>
            </a:r>
            <a:endParaRPr sz="1500" dirty="0"/>
          </a:p>
        </p:txBody>
      </p:sp>
      <p:pic>
        <p:nvPicPr>
          <p:cNvPr id="184" name="Google Shape;18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400" y="2614612"/>
            <a:ext cx="20002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14400" y="3681412"/>
            <a:ext cx="333375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14400" y="4748212"/>
            <a:ext cx="333375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DDD6FE"/>
                </a:solidFill>
                <a:latin typeface="Outfit"/>
                <a:ea typeface="Outfit"/>
                <a:cs typeface="Outfit"/>
                <a:sym typeface="Outfit"/>
              </a:rPr>
              <a:t>Technical Architecture</a:t>
            </a:r>
            <a:endParaRPr/>
          </a:p>
        </p:txBody>
      </p:sp>
      <p:sp>
        <p:nvSpPr>
          <p:cNvPr id="188" name="Google Shape;188;p18"/>
          <p:cNvSpPr/>
          <p:nvPr/>
        </p:nvSpPr>
        <p:spPr>
          <a:xfrm>
            <a:off x="571500" y="1143000"/>
            <a:ext cx="6153150" cy="19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B4B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986212" y="4826793"/>
            <a:ext cx="4219575" cy="11382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524500" y="892968"/>
            <a:ext cx="1143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3860720" y="2416968"/>
            <a:ext cx="4470558" cy="962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5F3FF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Questions?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2286000" y="3569493"/>
            <a:ext cx="7620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DDD6FE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"Information for Everyone" – Bridging the digital gap through advanced Android development.</a:t>
            </a:r>
            <a:endParaRPr/>
          </a:p>
        </p:txBody>
      </p:sp>
      <p:pic>
        <p:nvPicPr>
          <p:cNvPr id="198" name="Google Shape;19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95962" y="1226343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9"/>
          <p:cNvSpPr txBox="1"/>
          <p:nvPr/>
        </p:nvSpPr>
        <p:spPr>
          <a:xfrm>
            <a:off x="4567237" y="5122068"/>
            <a:ext cx="3057525" cy="271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996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FFFFF"/>
                </a:solidFill>
                <a:latin typeface="Plus Jakarta Sans SemiBold"/>
                <a:ea typeface="Plus Jakarta Sans SemiBold"/>
                <a:cs typeface="Plus Jakarta Sans SemiBold"/>
                <a:sym typeface="Plus Jakarta Sans SemiBold"/>
              </a:rPr>
              <a:t>Mehmet Eren Ekşi &amp; Yiğit Erel</a:t>
            </a:r>
            <a:endParaRPr/>
          </a:p>
        </p:txBody>
      </p:sp>
      <p:sp>
        <p:nvSpPr>
          <p:cNvPr id="200" name="Google Shape;200;p19"/>
          <p:cNvSpPr txBox="1"/>
          <p:nvPr/>
        </p:nvSpPr>
        <p:spPr>
          <a:xfrm>
            <a:off x="3986212" y="5466961"/>
            <a:ext cx="42195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A78BFA"/>
                </a:solidFill>
                <a:latin typeface="Plus Jakarta Sans"/>
                <a:ea typeface="Plus Jakarta Sans"/>
                <a:cs typeface="Plus Jakarta Sans"/>
                <a:sym typeface="Plus Jakarta Sans"/>
              </a:rPr>
              <a:t>CMP2004 Advanced Programming | 2025-2026 Spring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293</Words>
  <Application>Microsoft Office PowerPoint</Application>
  <PresentationFormat>Geniş ekran</PresentationFormat>
  <Paragraphs>41</Paragraphs>
  <Slides>7</Slides>
  <Notes>7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4" baseType="lpstr">
      <vt:lpstr>Plus Jakarta Sans Light</vt:lpstr>
      <vt:lpstr>Arial</vt:lpstr>
      <vt:lpstr>Calibri</vt:lpstr>
      <vt:lpstr>Plus Jakarta Sans</vt:lpstr>
      <vt:lpstr>Outfit</vt:lpstr>
      <vt:lpstr>Plus Jakarta Sans SemiBold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YİĞİT EREL</cp:lastModifiedBy>
  <cp:revision>3</cp:revision>
  <dcterms:modified xsi:type="dcterms:W3CDTF">2026-05-20T23:40:00Z</dcterms:modified>
</cp:coreProperties>
</file>